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Gastos de Mantenimiento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Cuarto Trimestre 2025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- Diciembre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Concretos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Q4 2025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645920"/>
          </a:xfrm>
          <a:prstGeom prst="rect">
            <a:avLst/>
          </a:prstGeom>
          <a:solidFill>
            <a:srgbClr val="1E2761">
              <a:alpha val="90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$35,384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Mantenimiento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1645920"/>
          </a:xfrm>
          <a:prstGeom prst="rect">
            <a:avLst/>
          </a:prstGeom>
          <a:solidFill>
            <a:srgbClr val="2ECC71">
              <a:alpha val="9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26,831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2011680" cy="1645920"/>
          </a:xfrm>
          <a:prstGeom prst="rect">
            <a:avLst/>
          </a:prstGeom>
          <a:solidFill>
            <a:srgbClr val="F39C12">
              <a:alpha val="9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Promedio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2011680" cy="1645920"/>
          </a:xfrm>
          <a:prstGeom prst="rect">
            <a:avLst/>
          </a:prstGeom>
          <a:solidFill>
            <a:srgbClr val="E74C3C">
              <a:alpha val="9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0408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Correctivo/Preventivo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E74C3C">
              <a:alpha val="8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HALLAZGO CRÍTICO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ratio correctivo/preventivo de 12.56:1 está muy por encima del ideal (3:1),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indicando dependencia excesiva en mantenimiento reactivo.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Gastos: Correctivo vs Preventivo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 Completadas - Q4 2025</a:t>
            </a:r>
            <a:endParaRPr lang="en-US" sz="1400" dirty="0"/>
          </a:p>
        </p:txBody>
      </p:sp>
      <p:pic>
        <p:nvPicPr>
          <p:cNvPr id="4" name="Image 0" descr="/sessions/intelligent-magical-ramanujan/mnt/reports/grafico_1_correctivo_vs_preven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32004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017520" cy="1828800"/>
        </p:xfrm>
        <a:graphic>
          <a:graphicData uri="http://schemas.openxmlformats.org/drawingml/2006/table">
            <a:tbl>
              <a:tblPr/>
              <a:tblGrid>
                <a:gridCol w="603504"/>
                <a:gridCol w="603504"/>
                <a:gridCol w="603504"/>
                <a:gridCol w="603504"/>
                <a:gridCol w="60350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Corr.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Octubre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3"/>
          <p:cNvSpPr/>
          <p:nvPr/>
        </p:nvSpPr>
        <p:spPr>
          <a:xfrm>
            <a:off x="5669280" y="3474720"/>
            <a:ext cx="3017520" cy="914400"/>
          </a:xfrm>
          <a:prstGeom prst="rect">
            <a:avLst/>
          </a:prstGeom>
          <a:solidFill>
            <a:srgbClr val="E74C3C">
              <a:alpha val="8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3611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ALERTA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sin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Total Q4 2025</a:t>
            </a:r>
            <a:endParaRPr lang="en-US" sz="3600" dirty="0"/>
          </a:p>
        </p:txBody>
      </p:sp>
      <p:pic>
        <p:nvPicPr>
          <p:cNvPr id="3" name="Image 0" descr="/sessions/intelligent-magical-ramanujan/mnt/reports/grafico_2_produccion_men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1188720"/>
            <a:ext cx="2468880" cy="1005840"/>
          </a:xfrm>
          <a:prstGeom prst="rect">
            <a:avLst/>
          </a:prstGeom>
          <a:solidFill>
            <a:srgbClr val="2ECC71">
              <a:alpha val="9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0936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11,056 m³  |  1,456 remisiones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del total Q4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377440"/>
            <a:ext cx="2468880" cy="1005840"/>
          </a:xfrm>
          <a:prstGeom prst="rect">
            <a:avLst/>
          </a:prstGeom>
          <a:solidFill>
            <a:srgbClr val="2ECC71">
              <a:alpha val="9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7,392 m³  |  954 remisiones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del total Q4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3566160"/>
            <a:ext cx="2468880" cy="1005840"/>
          </a:xfrm>
          <a:prstGeom prst="rect">
            <a:avLst/>
          </a:prstGeom>
          <a:solidFill>
            <a:srgbClr val="2ECC71">
              <a:alpha val="9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0936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8,384 m³  |  1,012 remisiones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del total Q4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4297680"/>
            <a:ext cx="24688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Q4: 26,831 m³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Mantenimiento por Metro Cúbico</a:t>
            </a:r>
            <a:endParaRPr lang="en-US" sz="3600" dirty="0"/>
          </a:p>
        </p:txBody>
      </p:sp>
      <p:pic>
        <p:nvPicPr>
          <p:cNvPr id="3" name="Image 0" descr="/sessions/intelligent-magical-ramanujan/mnt/reports/grafico_3_costo_por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3108960"/>
          </a:xfrm>
          <a:prstGeom prst="rect">
            <a:avLst/>
          </a:prstGeom>
          <a:solidFill>
            <a:srgbClr val="F39C12">
              <a:alpha val="9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 CLAVE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Noviembre: Costo más alto
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$2.15/m³ (+202%)
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principales: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Menor producción (-33%)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Mayor gasto correctivo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preventivo completado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por Planta</a:t>
            </a:r>
            <a:endParaRPr lang="en-US" sz="3600" dirty="0"/>
          </a:p>
        </p:txBody>
      </p:sp>
      <p:pic>
        <p:nvPicPr>
          <p:cNvPr id="3" name="Image 0" descr="/sessions/intelligent-magical-ramanujan/mnt/reports/grafico_5_produccion_por_pla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Gastos de Mantenimiento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Q4 2025</a:t>
            </a:r>
            <a:endParaRPr lang="en-US" sz="1600" dirty="0"/>
          </a:p>
        </p:txBody>
      </p:sp>
      <p:pic>
        <p:nvPicPr>
          <p:cNvPr id="4" name="Image 0" descr="/sessions/intelligent-magical-ramanujan/mnt/reports/grafico_4_distribucion_gas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3657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E74C3C">
              <a:alpha val="9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0" y="155448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DISTRIBUCIÓN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Correctivo: </a:t>
            </a:r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$32,775 (93%)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Preventivo: </a:t>
            </a:r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$2,609 (7%)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Meta de Industria:
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&gt; 30%
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23 puntos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porcentuales por debajo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objetivo.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Activos con Mayores Gastos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234440"/>
            <a:ext cx="1563624" cy="365760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INT-TRACTOCAMION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$10,087  (28.5%)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1058875" cy="365760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INT-WORKSTAR 7600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947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$6,822  (19.3%)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7280" y="2606040"/>
            <a:ext cx="746150" cy="365760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33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SAVEIRO U-08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$4,815  (13.6%)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97280" y="3291840"/>
            <a:ext cx="587045" cy="365760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319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SITRAK C7H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$3,800  (10.7%)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97280" y="3977640"/>
            <a:ext cx="471830" cy="365760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005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CF-CATERPILLAR 938G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$3,045  (8.6%)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39C12">
              <a:alpha val="8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RECOMENDACIÓN: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5 activos representan el 80.7% del gasto total. Requieren evaluación detallada.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Correctivo/Preventivo</a:t>
            </a:r>
            <a:endParaRPr lang="en-US" sz="3600" dirty="0"/>
          </a:p>
        </p:txBody>
      </p:sp>
      <p:pic>
        <p:nvPicPr>
          <p:cNvPr id="3" name="Image 0" descr="/sessions/intelligent-magical-ramanujan/mnt/reports/grafico_6_ratio_correctivo_preven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3108960"/>
          </a:xfrm>
          <a:prstGeom prst="rect">
            <a:avLst/>
          </a:prstGeom>
          <a:solidFill>
            <a:srgbClr val="E74C3C">
              <a:alpha val="9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RATIO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Meta Industria: 3:1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Estado Actual: 12.56:1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 por encima del ideal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Costos operativos elevados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Mayor riesgo de paros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Vida útil reducida de activos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y Confiabilidad de los Datos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2ECC71">
              <a:alpha val="9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DATOS VERIFICADOS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órdenes de compra completadas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227 órdenes de trabajo generadas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3,422 remisiones registradas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Todos los montos validados
</a:t>
            </a:r>
            <a:endParaRPr lang="en-US" sz="18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precisos y</a:t>
            </a:r>
            <a:endParaRPr lang="en-US" sz="18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verificables en el sistema.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F39C12">
              <a:alpha val="9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ANOMALÍA CORREGIDA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registro con costo estimado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anómalo de 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$31.4M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Identificado como error de captura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Excluido del análisis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Precisión mantenida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CONFIABILIDAD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presentados son precisos, auditables y verificables en el sistema de gestión.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E74C3C">
              <a:alpha val="8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CRÍTICO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 correctivo/preventivo 4.2x por encima del ideal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Noviembre sin mantenimiento preventivo completado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93% del presupuesto gastado en correctivos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39C12">
              <a:alpha val="8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REQUIERE ATENCIÓN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Variabilidad alta en costo por m³ (0.71-2.15)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Concentración de gastos en 5 activos clave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Producción irregular entre plantas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2ECC71">
              <a:alpha val="85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ASPECTOS POSITIVOS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validados y confiables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Trazabilidad completa de gastos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registro funcionando correctamente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Recomendado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E74C3C">
              <a:alpha val="8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 - INMEDIATO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Incrementar presupuesto y ejecución de preventivo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Implementar programa de mantenimiento predictivo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Evaluar estado de top 5 activos con mayores gastos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39C12">
              <a:alpha val="8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 - 30 DÍAS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Análisis de causa raíz de noviembre sin preventivo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Estandarizar procesos entre plantas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Capacitación en mantenimiento preventivo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2ECC71">
              <a:alpha val="85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BAJA - 90 DÍAS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Sistema de alertas tempranas para activos críticos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Definir KPIs mensuales de mantenimiento
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Benchmarking con industria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Q1 2026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 objetivo: &lt; 5:1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Costo/m³: &lt; $1.20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Preventivo: &gt; 30%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463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Frecuencia: Mensual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Jefe de Mtto.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Gerencia,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Finanzas, Operaciones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INMEDIATAS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Presentar análisis a gerencia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Aprobar incremento en presupuesto preventivo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Definir metas trimestrales Q1 2026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Asignar responsables por acción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Mantenimiento Q4 2025</dc:title>
  <dc:subject>PptxGenJS Presentation</dc:subject>
  <dc:creator>DC Concretos - Sistema de Mantenimiento</dc:creator>
  <cp:lastModifiedBy>DC Concretos - Sistema de Mantenimiento</cp:lastModifiedBy>
  <cp:revision>1</cp:revision>
  <dcterms:created xsi:type="dcterms:W3CDTF">2026-02-10T16:42:27Z</dcterms:created>
  <dcterms:modified xsi:type="dcterms:W3CDTF">2026-02-10T16:42:27Z</dcterms:modified>
</cp:coreProperties>
</file>